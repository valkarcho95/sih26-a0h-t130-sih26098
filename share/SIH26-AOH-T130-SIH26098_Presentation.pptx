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 snapToObjects="1">
      <p:cViewPr varScale="1">
        <p:scale>
          <a:sx n="82" d="100"/>
          <a:sy n="82" d="100"/>
        </p:scale>
        <p:origin x="720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8/30/2026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8/30/2026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8/30/2026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8/30/2026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8/30/2026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8/30/2026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8/30/2026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hyperlink" Target="https://www.nasa.gov/smallsat-institute/sst-soa/guidance-navigation-and-control/?utm_source=chatgpt.com" TargetMode="External"/><Relationship Id="rId7" Type="http://schemas.openxmlformats.org/officeDocument/2006/relationships/hyperlink" Target="https://ieeexplore.ieee.org/document/7001546/?utm_source=chatgpt.com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ntrs.nasa.gov/citations/19830020922?utm_source=chatgpt.com" TargetMode="External"/><Relationship Id="rId5" Type="http://schemas.openxmlformats.org/officeDocument/2006/relationships/hyperlink" Target="https://ntrs.nasa.gov/citations/20020043249?utm_source=chatgpt.com" TargetMode="External"/><Relationship Id="rId4" Type="http://schemas.openxmlformats.org/officeDocument/2006/relationships/hyperlink" Target="https://ntrs.nasa.gov/citations/20205000801?utm_source=chatgpt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04800" y="-604546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83661" y="716333"/>
            <a:ext cx="5924550" cy="48713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 26098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</a:t>
            </a:r>
          </a:p>
          <a:p>
            <a:pPr marL="28575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sz="2000" b="1" i="1" dirty="0">
                <a:latin typeface="Adobe Ming Std L" panose="02020300000000000000" pitchFamily="18" charset="-128"/>
                <a:ea typeface="Adobe Ming Std L" panose="02020300000000000000" pitchFamily="18" charset="-128"/>
              </a:rPr>
              <a:t>Development of a Low-Cost Precision Guidance and Smart Electronic </a:t>
            </a:r>
            <a:r>
              <a:rPr lang="en-IN" sz="2000" b="1" i="1" dirty="0" err="1">
                <a:latin typeface="Adobe Ming Std L" panose="02020300000000000000" pitchFamily="18" charset="-128"/>
                <a:ea typeface="Adobe Ming Std L" panose="02020300000000000000" pitchFamily="18" charset="-128"/>
              </a:rPr>
              <a:t>Fuze</a:t>
            </a:r>
            <a:r>
              <a:rPr lang="en-IN" sz="2000" b="1" i="1" dirty="0">
                <a:latin typeface="Adobe Ming Std L" panose="02020300000000000000" pitchFamily="18" charset="-128"/>
                <a:ea typeface="Adobe Ming Std L" panose="02020300000000000000" pitchFamily="18" charset="-128"/>
              </a:rPr>
              <a:t> System for a 155 mm Artillery Shell</a:t>
            </a:r>
            <a:endParaRPr lang="en-US" sz="2000" b="1" i="1" dirty="0">
              <a:latin typeface="Adobe Ming Std L" panose="02020300000000000000" pitchFamily="18" charset="-128"/>
              <a:ea typeface="Adobe Ming Std L" panose="02020300000000000000" pitchFamily="18" charset="-128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Theme- Smart Vehicles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PS Category- Hardware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Name : Black Bulls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 err="1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PNavs</a:t>
            </a: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 – Precision Navigation System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@SIH Idea submission- Template</a:t>
            </a: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BLACKBULLS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97650AB-9B9C-B57B-F79F-DAB9727893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33810" y="1173161"/>
            <a:ext cx="5974236" cy="2955287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1AB1534-DB5D-4206-C5FF-4988DE4DF0C8}"/>
              </a:ext>
            </a:extLst>
          </p:cNvPr>
          <p:cNvSpPr txBox="1"/>
          <p:nvPr/>
        </p:nvSpPr>
        <p:spPr>
          <a:xfrm>
            <a:off x="2036221" y="4125990"/>
            <a:ext cx="63694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i="1" u="sng" dirty="0"/>
              <a:t>A Precision Navigating System that constantly corrects the trajectory of the artillery to make sure </a:t>
            </a:r>
            <a:r>
              <a:rPr lang="en-IN" sz="2000" b="1" i="1" u="sng"/>
              <a:t>the CEP&lt;= </a:t>
            </a:r>
            <a:r>
              <a:rPr lang="en-IN" sz="2000" b="1" i="1" u="sng" dirty="0"/>
              <a:t>30m.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C6D7CA6-72E7-A337-DA28-5AFB4719E133}"/>
              </a:ext>
            </a:extLst>
          </p:cNvPr>
          <p:cNvSpPr txBox="1"/>
          <p:nvPr/>
        </p:nvSpPr>
        <p:spPr>
          <a:xfrm>
            <a:off x="8220913" y="1173161"/>
            <a:ext cx="3971087" cy="3847207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IN" sz="2800" b="1" dirty="0"/>
              <a:t>Features:</a:t>
            </a:r>
          </a:p>
          <a:p>
            <a:pPr marL="285750" indent="-285750">
              <a:buFont typeface="Wingdings" panose="05000000000000000000" pitchFamily="2" charset="2"/>
              <a:buChar char="è"/>
            </a:pPr>
            <a:r>
              <a:rPr lang="en-IN" sz="2400" b="1" dirty="0"/>
              <a:t>Pressure Controlled</a:t>
            </a:r>
          </a:p>
          <a:p>
            <a:r>
              <a:rPr lang="en-IN" sz="2400" b="1" dirty="0"/>
              <a:t>Micro-bleed valves </a:t>
            </a:r>
          </a:p>
          <a:p>
            <a:pPr marL="285750" indent="-285750">
              <a:buFont typeface="Wingdings" panose="05000000000000000000" pitchFamily="2" charset="2"/>
              <a:buChar char="è"/>
            </a:pPr>
            <a:r>
              <a:rPr lang="en-IN" sz="2400" b="1" dirty="0"/>
              <a:t>Deployable Canards</a:t>
            </a:r>
          </a:p>
          <a:p>
            <a:pPr marL="285750" indent="-285750">
              <a:buFont typeface="Wingdings" panose="05000000000000000000" pitchFamily="2" charset="2"/>
              <a:buChar char="è"/>
            </a:pPr>
            <a:r>
              <a:rPr lang="en-IN" sz="2400" b="1" dirty="0"/>
              <a:t>Live trajectory correction</a:t>
            </a:r>
          </a:p>
          <a:p>
            <a:pPr marL="285750" indent="-285750">
              <a:buFont typeface="Wingdings" panose="05000000000000000000" pitchFamily="2" charset="2"/>
              <a:buChar char="è"/>
            </a:pPr>
            <a:r>
              <a:rPr lang="en-IN" sz="2400" b="1" dirty="0"/>
              <a:t>Can sustain Harsh </a:t>
            </a:r>
          </a:p>
          <a:p>
            <a:r>
              <a:rPr lang="en-IN" sz="2400" b="1" dirty="0"/>
              <a:t>Weather and Machine </a:t>
            </a:r>
          </a:p>
          <a:p>
            <a:r>
              <a:rPr lang="en-IN" sz="2400" b="1" dirty="0"/>
              <a:t>Conditions</a:t>
            </a:r>
          </a:p>
          <a:p>
            <a:pPr marL="285750" indent="-285750">
              <a:buFont typeface="Wingdings" panose="05000000000000000000" pitchFamily="2" charset="2"/>
              <a:buChar char="è"/>
            </a:pPr>
            <a:r>
              <a:rPr lang="en-IN" sz="2400" b="1" dirty="0"/>
              <a:t>Cost effective components</a:t>
            </a:r>
          </a:p>
          <a:p>
            <a:r>
              <a:rPr lang="en-IN" sz="2400" b="1" dirty="0"/>
              <a:t>-&gt; Multi mode Electronic </a:t>
            </a:r>
            <a:r>
              <a:rPr lang="en-IN" sz="2400" b="1" dirty="0" err="1"/>
              <a:t>Fuze</a:t>
            </a:r>
            <a:endParaRPr lang="en-IN" sz="2400" b="1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197F34B-C434-EB97-0D1F-2C569DF280C4}"/>
              </a:ext>
            </a:extLst>
          </p:cNvPr>
          <p:cNvSpPr txBox="1"/>
          <p:nvPr/>
        </p:nvSpPr>
        <p:spPr>
          <a:xfrm>
            <a:off x="0" y="1297742"/>
            <a:ext cx="2064593" cy="3693319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N" dirty="0"/>
              <a:t>Problems:</a:t>
            </a:r>
          </a:p>
          <a:p>
            <a:pPr marL="285750" indent="-285750">
              <a:buFont typeface="Wingdings" panose="05000000000000000000" pitchFamily="2" charset="2"/>
              <a:buChar char="è"/>
            </a:pPr>
            <a:r>
              <a:rPr lang="en-IN" dirty="0"/>
              <a:t>Not accurate landings</a:t>
            </a:r>
          </a:p>
          <a:p>
            <a:pPr marL="285750" indent="-285750">
              <a:buFont typeface="Wingdings" panose="05000000000000000000" pitchFamily="2" charset="2"/>
              <a:buChar char="è"/>
            </a:pPr>
            <a:r>
              <a:rPr lang="en-IN" dirty="0"/>
              <a:t>Deviation from trajectory due to wind and other causes</a:t>
            </a:r>
          </a:p>
          <a:p>
            <a:pPr marL="285750" indent="-285750">
              <a:buFont typeface="Wingdings" panose="05000000000000000000" pitchFamily="2" charset="2"/>
              <a:buChar char="è"/>
            </a:pPr>
            <a:r>
              <a:rPr lang="en-IN" dirty="0"/>
              <a:t>Expensive technology </a:t>
            </a:r>
          </a:p>
          <a:p>
            <a:pPr marL="285750" indent="-285750">
              <a:buFont typeface="Wingdings" panose="05000000000000000000" pitchFamily="2" charset="2"/>
              <a:buChar char="è"/>
            </a:pPr>
            <a:r>
              <a:rPr lang="en-IN" dirty="0"/>
              <a:t>Failure to withstand harsh conditions</a:t>
            </a:r>
          </a:p>
          <a:p>
            <a:pPr marL="285750" indent="-285750">
              <a:buFont typeface="Wingdings" panose="05000000000000000000" pitchFamily="2" charset="2"/>
              <a:buChar char="è"/>
            </a:pPr>
            <a:r>
              <a:rPr lang="en-IN" dirty="0"/>
              <a:t>Single mode </a:t>
            </a:r>
            <a:r>
              <a:rPr lang="en-IN" dirty="0" err="1"/>
              <a:t>fuze</a:t>
            </a:r>
            <a:endParaRPr lang="en-IN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1D2FCDE-A65D-ADB8-B780-65EA37DDA1FC}"/>
              </a:ext>
            </a:extLst>
          </p:cNvPr>
          <p:cNvSpPr txBox="1"/>
          <p:nvPr/>
        </p:nvSpPr>
        <p:spPr>
          <a:xfrm>
            <a:off x="2077460" y="4855655"/>
            <a:ext cx="5974736" cy="1477328"/>
          </a:xfrm>
          <a:prstGeom prst="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IN" dirty="0"/>
              <a:t>What makes us unique:</a:t>
            </a:r>
          </a:p>
          <a:p>
            <a:pPr marL="285750" indent="-285750">
              <a:buFont typeface="Wingdings" panose="05000000000000000000" pitchFamily="2" charset="2"/>
              <a:buChar char="è"/>
            </a:pPr>
            <a:r>
              <a:rPr lang="en-IN" dirty="0"/>
              <a:t>State of the art equipment at low costs </a:t>
            </a:r>
          </a:p>
          <a:p>
            <a:pPr marL="285750" indent="-285750">
              <a:buFont typeface="Wingdings" panose="05000000000000000000" pitchFamily="2" charset="2"/>
              <a:buChar char="è"/>
            </a:pPr>
            <a:r>
              <a:rPr lang="en-IN" dirty="0"/>
              <a:t>In flight trajectory control and precise live tracking</a:t>
            </a:r>
          </a:p>
          <a:p>
            <a:pPr marL="285750" indent="-285750">
              <a:buFont typeface="Wingdings" panose="05000000000000000000" pitchFamily="2" charset="2"/>
              <a:buChar char="è"/>
            </a:pPr>
            <a:r>
              <a:rPr lang="en-IN" dirty="0"/>
              <a:t>Hybrid combination of canards and micro-bleed valves for faster course correction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Black Bulls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3" name="Rectangle 32">
            <a:extLst>
              <a:ext uri="{FF2B5EF4-FFF2-40B4-BE49-F238E27FC236}">
                <a16:creationId xmlns:a16="http://schemas.microsoft.com/office/drawing/2014/main" id="{7C21A0C0-82CC-8EC5-8756-7DC90B64F1DA}"/>
              </a:ext>
            </a:extLst>
          </p:cNvPr>
          <p:cNvSpPr/>
          <p:nvPr/>
        </p:nvSpPr>
        <p:spPr>
          <a:xfrm>
            <a:off x="75107" y="1087872"/>
            <a:ext cx="5633884" cy="4990793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CEC3819-D199-F67B-30ED-AA17B4FBD9C4}"/>
              </a:ext>
            </a:extLst>
          </p:cNvPr>
          <p:cNvSpPr/>
          <p:nvPr/>
        </p:nvSpPr>
        <p:spPr>
          <a:xfrm>
            <a:off x="235974" y="1553497"/>
            <a:ext cx="2182761" cy="1143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Using Sensors to Get flight State data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EE5831D-BAA8-8016-3A38-3F06F9010946}"/>
              </a:ext>
            </a:extLst>
          </p:cNvPr>
          <p:cNvSpPr/>
          <p:nvPr/>
        </p:nvSpPr>
        <p:spPr>
          <a:xfrm>
            <a:off x="2875935" y="1538749"/>
            <a:ext cx="2182761" cy="1143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Use Real time state estimation to remove Unwanted noise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CC356D9-F385-9F15-D69B-C1371FC40AFD}"/>
              </a:ext>
            </a:extLst>
          </p:cNvPr>
          <p:cNvSpPr/>
          <p:nvPr/>
        </p:nvSpPr>
        <p:spPr>
          <a:xfrm>
            <a:off x="2851354" y="3096265"/>
            <a:ext cx="2182761" cy="1143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/>
              <a:t>Deploying canards and </a:t>
            </a:r>
            <a:r>
              <a:rPr lang="en-IN" sz="1400" dirty="0" err="1"/>
              <a:t>Presure</a:t>
            </a:r>
            <a:r>
              <a:rPr lang="en-IN" sz="1400" dirty="0"/>
              <a:t> </a:t>
            </a:r>
            <a:r>
              <a:rPr lang="en-IN" sz="1400" dirty="0" err="1"/>
              <a:t>controeld</a:t>
            </a:r>
            <a:r>
              <a:rPr lang="en-IN" sz="1400" dirty="0"/>
              <a:t> micro-bleed valves to correct the course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23E5127-09C1-EE68-E0FA-0D224E881669}"/>
              </a:ext>
            </a:extLst>
          </p:cNvPr>
          <p:cNvSpPr/>
          <p:nvPr/>
        </p:nvSpPr>
        <p:spPr>
          <a:xfrm>
            <a:off x="235974" y="4777581"/>
            <a:ext cx="2182761" cy="1143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REPEAT FOR THE WHOLE COURSE OF THE FLIGHT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9D705C2-6FB8-1D7B-270F-19FA3FBC0FDD}"/>
              </a:ext>
            </a:extLst>
          </p:cNvPr>
          <p:cNvSpPr/>
          <p:nvPr/>
        </p:nvSpPr>
        <p:spPr>
          <a:xfrm>
            <a:off x="214946" y="3191208"/>
            <a:ext cx="2182761" cy="1143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Trajectory error and correction Using flight control Algorithm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8843A39-901E-9A1A-C947-B0F899D5775B}"/>
              </a:ext>
            </a:extLst>
          </p:cNvPr>
          <p:cNvSpPr/>
          <p:nvPr/>
        </p:nvSpPr>
        <p:spPr>
          <a:xfrm>
            <a:off x="2851354" y="4753640"/>
            <a:ext cx="2182761" cy="1143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MULTI-MODE ELECTRONIC FUZE DO DEFUSE THE BOMB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EBFD3227-C0A9-CD9D-661F-170EB0203D58}"/>
              </a:ext>
            </a:extLst>
          </p:cNvPr>
          <p:cNvCxnSpPr>
            <a:stCxn id="4" idx="3"/>
            <a:endCxn id="8" idx="1"/>
          </p:cNvCxnSpPr>
          <p:nvPr/>
        </p:nvCxnSpPr>
        <p:spPr>
          <a:xfrm flipV="1">
            <a:off x="2418735" y="2110249"/>
            <a:ext cx="457200" cy="1474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0736AE3C-0551-5D7E-A1AA-984AA51C57B8}"/>
              </a:ext>
            </a:extLst>
          </p:cNvPr>
          <p:cNvCxnSpPr>
            <a:cxnSpLocks/>
            <a:stCxn id="8" idx="2"/>
            <a:endCxn id="13" idx="0"/>
          </p:cNvCxnSpPr>
          <p:nvPr/>
        </p:nvCxnSpPr>
        <p:spPr>
          <a:xfrm flipH="1">
            <a:off x="3942735" y="2681749"/>
            <a:ext cx="24581" cy="41451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E5AFE8D7-18E4-1683-AA58-332FD7D70AF5}"/>
              </a:ext>
            </a:extLst>
          </p:cNvPr>
          <p:cNvCxnSpPr>
            <a:stCxn id="13" idx="1"/>
            <a:endCxn id="17" idx="3"/>
          </p:cNvCxnSpPr>
          <p:nvPr/>
        </p:nvCxnSpPr>
        <p:spPr>
          <a:xfrm flipH="1">
            <a:off x="2397707" y="3667765"/>
            <a:ext cx="453647" cy="9494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6C413BE6-8436-CFFB-CB17-E7E99D989717}"/>
              </a:ext>
            </a:extLst>
          </p:cNvPr>
          <p:cNvCxnSpPr>
            <a:endCxn id="15" idx="0"/>
          </p:cNvCxnSpPr>
          <p:nvPr/>
        </p:nvCxnSpPr>
        <p:spPr>
          <a:xfrm>
            <a:off x="1327354" y="4434348"/>
            <a:ext cx="1" cy="34323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581C2215-B392-4578-76F1-5503DE45A16E}"/>
              </a:ext>
            </a:extLst>
          </p:cNvPr>
          <p:cNvCxnSpPr>
            <a:stCxn id="15" idx="3"/>
            <a:endCxn id="19" idx="1"/>
          </p:cNvCxnSpPr>
          <p:nvPr/>
        </p:nvCxnSpPr>
        <p:spPr>
          <a:xfrm flipV="1">
            <a:off x="2418735" y="5325140"/>
            <a:ext cx="432619" cy="2394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1205CA38-AE07-C776-CA1E-028DA6EC207D}"/>
              </a:ext>
            </a:extLst>
          </p:cNvPr>
          <p:cNvSpPr txBox="1"/>
          <p:nvPr/>
        </p:nvSpPr>
        <p:spPr>
          <a:xfrm>
            <a:off x="1205492" y="1006065"/>
            <a:ext cx="360669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b="1" u="sng" dirty="0"/>
              <a:t>HOW IT WILL WORK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DE7F3B29-CE34-48A7-ECD3-A0A5BC4837E3}"/>
              </a:ext>
            </a:extLst>
          </p:cNvPr>
          <p:cNvSpPr/>
          <p:nvPr/>
        </p:nvSpPr>
        <p:spPr>
          <a:xfrm>
            <a:off x="6422407" y="1413450"/>
            <a:ext cx="4125662" cy="4152722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TECHNOLOGY :</a:t>
            </a:r>
          </a:p>
          <a:p>
            <a:pPr marL="285750" indent="-285750" algn="ctr">
              <a:buFont typeface="Wingdings" panose="05000000000000000000" pitchFamily="2" charset="2"/>
              <a:buChar char="è"/>
            </a:pPr>
            <a:r>
              <a:rPr lang="en-IN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ARM BASED MICROCONTROLLER</a:t>
            </a:r>
          </a:p>
          <a:p>
            <a:pPr marL="285750" indent="-285750" algn="ctr">
              <a:buFont typeface="Wingdings" panose="05000000000000000000" pitchFamily="2" charset="2"/>
              <a:buChar char="è"/>
            </a:pPr>
            <a:r>
              <a:rPr lang="en-IN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SIMU/GNSS INTERFACE</a:t>
            </a:r>
          </a:p>
          <a:p>
            <a:pPr marL="285750" indent="-285750" algn="ctr">
              <a:buFont typeface="Wingdings" panose="05000000000000000000" pitchFamily="2" charset="2"/>
              <a:buChar char="è"/>
            </a:pPr>
            <a:r>
              <a:rPr lang="en-IN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SENSORS TO GATHER REAL TIME DATA</a:t>
            </a:r>
          </a:p>
          <a:p>
            <a:pPr marL="285750" indent="-285750" algn="ctr">
              <a:buFont typeface="Wingdings" panose="05000000000000000000" pitchFamily="2" charset="2"/>
              <a:buChar char="è"/>
            </a:pPr>
            <a:r>
              <a:rPr lang="en-IN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C++ AND MATLAB TO CREATE THE FLIGHT SIMULATOR</a:t>
            </a:r>
          </a:p>
          <a:p>
            <a:pPr marL="285750" indent="-285750" algn="ctr">
              <a:buFont typeface="Wingdings" panose="05000000000000000000" pitchFamily="2" charset="2"/>
              <a:buChar char="è"/>
            </a:pPr>
            <a:endParaRPr lang="en-IN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Black Bulls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9F26DF70-934A-593B-0784-B5E7324E8EFA}"/>
              </a:ext>
            </a:extLst>
          </p:cNvPr>
          <p:cNvSpPr/>
          <p:nvPr/>
        </p:nvSpPr>
        <p:spPr>
          <a:xfrm>
            <a:off x="329773" y="1219201"/>
            <a:ext cx="3082021" cy="3126657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TECHNOLOGICAL FEASIBILITY:</a:t>
            </a:r>
          </a:p>
          <a:p>
            <a:pPr algn="ctr"/>
            <a:r>
              <a:rPr lang="en-IN" dirty="0"/>
              <a:t>-&gt;DESIGING ON EXISTING SHELL INSTEAD OF COMPLETE REDESIGN</a:t>
            </a:r>
          </a:p>
          <a:p>
            <a:pPr algn="ctr"/>
            <a:r>
              <a:rPr lang="en-IN" dirty="0"/>
              <a:t>-&gt;SENSOR FUSION AND HARDWARE INTEGRATION WILL BE TESTED USING SOFTWARE SIMULATION BEFORE HARDWARE IMPLEMENTATION </a:t>
            </a:r>
          </a:p>
          <a:p>
            <a:pPr algn="ctr"/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DCB8E6E-9D47-B7D8-291B-FB08A63C24E5}"/>
              </a:ext>
            </a:extLst>
          </p:cNvPr>
          <p:cNvSpPr/>
          <p:nvPr/>
        </p:nvSpPr>
        <p:spPr>
          <a:xfrm>
            <a:off x="3710360" y="1144537"/>
            <a:ext cx="4141840" cy="329380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ECONOMIC FEASABILITY:</a:t>
            </a:r>
            <a:br>
              <a:rPr lang="en-IN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</a:br>
            <a:r>
              <a:rPr lang="en-IN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-&gt; LOW COST SYSTEMS </a:t>
            </a:r>
          </a:p>
          <a:p>
            <a:pPr marL="285750" indent="-285750" algn="ctr">
              <a:buFont typeface="Wingdings" panose="05000000000000000000" pitchFamily="2" charset="2"/>
              <a:buChar char="è"/>
            </a:pPr>
            <a:r>
              <a:rPr lang="en-IN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REUSABLE HARDWARE</a:t>
            </a:r>
          </a:p>
          <a:p>
            <a:pPr marL="285750" indent="-285750" algn="ctr">
              <a:buFont typeface="Wingdings" panose="05000000000000000000" pitchFamily="2" charset="2"/>
              <a:buChar char="è"/>
            </a:pPr>
            <a:r>
              <a:rPr lang="en-IN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SIMULATION FIRST DEVELOPMENT REDUCES TESTING COST</a:t>
            </a:r>
          </a:p>
          <a:p>
            <a:pPr marL="285750" indent="-285750" algn="ctr">
              <a:buFont typeface="Wingdings" panose="05000000000000000000" pitchFamily="2" charset="2"/>
              <a:buChar char="è"/>
            </a:pPr>
            <a:r>
              <a:rPr lang="en-IN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DEVLOPED TO WITHSTAND HARD WEATHER AND MACHINE CONDITIONS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A105A24-5C20-3D3F-A0C8-8546C8E3A7D6}"/>
              </a:ext>
            </a:extLst>
          </p:cNvPr>
          <p:cNvSpPr/>
          <p:nvPr/>
        </p:nvSpPr>
        <p:spPr>
          <a:xfrm>
            <a:off x="8013290" y="1063837"/>
            <a:ext cx="3500284" cy="3576989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KEY CHALLENGES:</a:t>
            </a:r>
            <a:br>
              <a:rPr lang="en-IN" dirty="0"/>
            </a:br>
            <a:r>
              <a:rPr lang="en-IN" dirty="0"/>
              <a:t>-&gt;MAKING IT AERODYNAMIC</a:t>
            </a:r>
          </a:p>
          <a:p>
            <a:pPr algn="ctr"/>
            <a:r>
              <a:rPr lang="en-IN" dirty="0"/>
              <a:t>-&gt;MAKING IT WITHSTAND HARSH CONDITIONS</a:t>
            </a:r>
          </a:p>
          <a:p>
            <a:pPr algn="ctr"/>
            <a:r>
              <a:rPr lang="en-IN" dirty="0"/>
              <a:t>-&gt;sensor noise</a:t>
            </a:r>
          </a:p>
          <a:p>
            <a:pPr algn="ctr"/>
            <a:r>
              <a:rPr lang="en-IN" dirty="0"/>
              <a:t>-&gt;complex integration</a:t>
            </a:r>
          </a:p>
          <a:p>
            <a:pPr algn="ctr"/>
            <a:r>
              <a:rPr lang="en-IN" dirty="0"/>
              <a:t>-&gt;power usage 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955701" y="2305615"/>
            <a:ext cx="9385300" cy="26776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A) more precise bombing will increase national security (social) 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B) reduced usage of artillery shells due to re-bombing of missed targets (economical and environmental)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C) increased safety of the fighters due to reduced risk of missing targets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Black Bulls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203362" y="1183301"/>
            <a:ext cx="12093676" cy="52322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IN" b="1" dirty="0"/>
              <a:t>1. NASA — Guidance, Navigation &amp; Control (GNC)</a:t>
            </a:r>
            <a:br>
              <a:rPr lang="en-IN" dirty="0"/>
            </a:br>
            <a:r>
              <a:rPr lang="en-IN" dirty="0"/>
              <a:t>NASA's GNC overview covers navigation, inertial sensing, GPS/GNSS, state estimation, and guidance/control architectures. </a:t>
            </a:r>
            <a:br>
              <a:rPr lang="en-IN" dirty="0"/>
            </a:br>
            <a:r>
              <a:rPr lang="en-IN" dirty="0">
                <a:hlinkClick r:id="rId3"/>
              </a:rPr>
              <a:t>NASA — Guidance, Navigation &amp; Control</a:t>
            </a:r>
            <a:endParaRPr lang="en-IN" dirty="0"/>
          </a:p>
          <a:p>
            <a:r>
              <a:rPr lang="en-IN" b="1" dirty="0"/>
              <a:t>2. NASA — Navigation Filter Design Best Practices</a:t>
            </a:r>
            <a:br>
              <a:rPr lang="en-IN" dirty="0"/>
            </a:br>
            <a:r>
              <a:rPr lang="en-IN" dirty="0"/>
              <a:t>Used as a reference for robust navigation-filter design, uncertainty handling, sensor biases and measurement weighting. </a:t>
            </a:r>
            <a:br>
              <a:rPr lang="en-IN" dirty="0"/>
            </a:br>
            <a:r>
              <a:rPr lang="en-IN" dirty="0">
                <a:hlinkClick r:id="rId4"/>
              </a:rPr>
              <a:t>NASA — Navigation Filter Design Best Practices</a:t>
            </a:r>
            <a:endParaRPr lang="en-IN" dirty="0"/>
          </a:p>
          <a:p>
            <a:r>
              <a:rPr lang="en-IN" b="1" dirty="0"/>
              <a:t>3. NASA NTRS — GPS/INS State Estimation with Kalman Filtering</a:t>
            </a:r>
            <a:br>
              <a:rPr lang="en-IN" dirty="0"/>
            </a:br>
            <a:r>
              <a:rPr lang="en-IN" dirty="0"/>
              <a:t>Supports the use of integrated navigation measurements and Kalman-filter-based state estimation for obtaining position and attitude estimates. </a:t>
            </a:r>
            <a:br>
              <a:rPr lang="en-IN" dirty="0"/>
            </a:br>
            <a:r>
              <a:rPr lang="en-IN" dirty="0">
                <a:hlinkClick r:id="rId5"/>
              </a:rPr>
              <a:t>NASA NTRS — Integrated GPS/INS State Estimation</a:t>
            </a:r>
            <a:endParaRPr lang="en-IN" dirty="0"/>
          </a:p>
          <a:p>
            <a:r>
              <a:rPr lang="en-IN" b="1" dirty="0"/>
              <a:t>4. NASA NTRS — Kalman Filtering for Navigation</a:t>
            </a:r>
            <a:br>
              <a:rPr lang="en-IN" dirty="0"/>
            </a:br>
            <a:r>
              <a:rPr lang="en-IN" dirty="0"/>
              <a:t>Research demonstrating the relationship between position, air-data and acceleration measurements, state estimation, trajectory tracking and simulation. </a:t>
            </a:r>
            <a:br>
              <a:rPr lang="en-IN" dirty="0"/>
            </a:br>
            <a:r>
              <a:rPr lang="en-IN" dirty="0">
                <a:hlinkClick r:id="rId6"/>
              </a:rPr>
              <a:t>NASA NTRS — Kalman-Filter Navigation Study</a:t>
            </a:r>
            <a:endParaRPr lang="en-IN" dirty="0"/>
          </a:p>
          <a:p>
            <a:r>
              <a:rPr lang="en-IN" b="1" dirty="0"/>
              <a:t>5. IEEE — Kalman Filter-Based Sensor Fusion</a:t>
            </a:r>
            <a:br>
              <a:rPr lang="en-IN" dirty="0"/>
            </a:br>
            <a:r>
              <a:rPr lang="en-IN" dirty="0"/>
              <a:t>Reference for Kalman-filter-based approaches to multi-sensor fusion. </a:t>
            </a:r>
            <a:br>
              <a:rPr lang="en-IN" dirty="0"/>
            </a:br>
            <a:r>
              <a:rPr lang="en-IN" dirty="0">
                <a:hlinkClick r:id="rId7"/>
              </a:rPr>
              <a:t>IEEE Xplore — Kalman Filter-Based Sensor Fusion</a:t>
            </a:r>
            <a:endParaRPr lang="en-IN" dirty="0"/>
          </a:p>
          <a:p>
            <a:pPr marR="0" lvl="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Black Bulls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12377" y="101299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7642</TotalTime>
  <Words>582</Words>
  <Application>Microsoft Office PowerPoint</Application>
  <PresentationFormat>Widescreen</PresentationFormat>
  <Paragraphs>86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5" baseType="lpstr">
      <vt:lpstr>Adobe Ming Std L</vt:lpstr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PNavs – Precision Navigation System</vt:lpstr>
      <vt:lpstr>TECHNICAL APPROACH</vt:lpstr>
      <vt:lpstr>FEASIBILITY AND VIABILITY</vt:lpstr>
      <vt:lpstr>IMPACT AND BENEFITS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Karthik Chockalingam</cp:lastModifiedBy>
  <cp:revision>150</cp:revision>
  <dcterms:created xsi:type="dcterms:W3CDTF">2013-12-12T18:46:50Z</dcterms:created>
  <dcterms:modified xsi:type="dcterms:W3CDTF">2026-08-30T17:13:29Z</dcterms:modified>
  <cp:category/>
</cp:coreProperties>
</file>